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7364E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EDE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6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ОПЕРАЦИОННАЯ ПЛАТФОРМА ДЛЯ РОЗНИЧНЫХ СЕТЕЙ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0" y="18288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Focus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371600" y="2834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Задачи. Аналитика. Графики смен. Зарплаты. База знаний.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инструмент в Telegram — ноль установок.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393192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4023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модулей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212080" y="393192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12080" y="4023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5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21208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223760" y="393192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23760" y="4023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22376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установок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Розница тонет в хаосе инструментов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Средняя сеть использует 5–7 разрозненных систем для управления персоналом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53035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234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📉  </a:t>
            </a:r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KPI вслепую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— результат виден через неделю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188720"/>
            <a:ext cx="53035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  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Графики в Excel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— 3–5 ч/неделю ручной работы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3035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874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💬  </a:t>
            </a:r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Задачи в WhatsApp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— 30% теряются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035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874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🧮  </a:t>
            </a:r>
            <a:pPr indent="0" marL="0">
              <a:buNone/>
            </a:pPr>
            <a:r>
              <a:rPr lang="en-US" sz="1300" b="1" dirty="0">
                <a:solidFill>
                  <a:srgbClr val="7364E3"/>
                </a:solidFill>
              </a:rPr>
              <a:t>ЗП считается 2 дня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— ошибки и споры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468880"/>
            <a:ext cx="10972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2514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🚶  </a:t>
            </a:r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Текучка 80–120%/год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— непрозрачная мотивация, нет онбординга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Стоимость бездействия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Потери для сети из 10 филиалов, ~60 сотрудников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2.2–4.5M ₽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Потери на текучке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15–30 увольнений × 150–300K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0" y="118872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0" y="1280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10–15%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38912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Упущенная выручка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запоздалые решения без аналитики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38160" y="118872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38160" y="1280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260–520 ч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13816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Административных потерь/год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графики + ЗП + отчёты вручную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51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Итого: 3–10M ₽/год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потерь, которые можно устранить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Наш подход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364E3"/>
                </a:solidFill>
              </a:rPr>
              <a:t>Не замена ERP. Фокусная линза для персонала.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Focus — прослойка между вашими системами и сотрудниками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5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Ваши системы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ERP · CRM · Wiki · Tracker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0" y="2011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364E3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0" y="164592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2700">
            <a:solidFill>
              <a:srgbClr val="7364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691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✨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0" y="2148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Focus BFF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Адаптеры · Формулы · RBAC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0" y="2011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364E3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503920" y="164592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691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✈️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148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AB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03920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WebApp · Bot · Push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71600" y="32918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32918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Telegram-native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 сотрудников розницы уже в Telegram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03520" y="32918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32918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установок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Открыл бот — начал работать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235440" y="32918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26" name="Text 24"/>
          <p:cNvSpPr/>
          <p:nvPr/>
        </p:nvSpPr>
        <p:spPr>
          <a:xfrm>
            <a:off x="9235440" y="32918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Offline-first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Работает при плохом Wi-Fi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Решение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модулей. Одно приложение. Ноль установок.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Обзор платформы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49808" y="978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Дашборд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16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8+ KPI в реальном времени, план/факт, рейтинги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0" y="86868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98848" y="978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8348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1216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через Telegram Bot, offline-режим, deep linking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38160" y="86868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47888" y="978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3252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Графики смен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732520" y="1216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Шаблоны 2/2, 5/2, авто-заполнение, покрытие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173736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1810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Калькулятор ЗП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084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KPI-матрица, формулы, CSV-экспорт для 1С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0" y="173736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98848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83480" y="1810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База знаний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2084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Wiki-интеграция, поиск, закладки, deep linking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38160" y="173736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47888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732520" y="1810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Админ-панель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732520" y="2084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Интеграции, метрики, оргструктура, RBAC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0" y="2834640"/>
            <a:ext cx="2011680" cy="374904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0" dist="63500" dir="16200000">
              <a:srgbClr val="7364E3">
                <a:alpha val="12000"/>
              </a:srgbClr>
            </a:outerShdw>
          </a:effectLst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0864" y="2944368"/>
            <a:ext cx="1901952" cy="3566160"/>
          </a:xfrm>
          <a:prstGeom prst="ellipse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4846320" y="2834640"/>
            <a:ext cx="2011680" cy="374904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0" dist="63500" dir="16200000">
              <a:srgbClr val="7364E3">
                <a:alpha val="12000"/>
              </a:srgbClr>
            </a:outerShdw>
          </a:effectLst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2944368"/>
            <a:ext cx="1901952" cy="3566160"/>
          </a:xfrm>
          <a:prstGeom prst="ellipse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7406640" y="2834640"/>
            <a:ext cx="2011680" cy="374904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0" dist="63500" dir="16200000">
              <a:srgbClr val="7364E3">
                <a:alpha val="12000"/>
              </a:srgbClr>
            </a:outerShdw>
          </a:effectLst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4" y="2944368"/>
            <a:ext cx="1901952" cy="3566160"/>
          </a:xfrm>
          <a:prstGeom prst="ellipse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 Дашборд руководителя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KPI сети в реальном времени — на экране телефона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54864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1887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🎯  </a:t>
            </a:r>
            <a:pPr indent="0" marL="0">
              <a:buNone/>
            </a:pPr>
            <a:r>
              <a:rPr lang="en-US" sz="1300" b="1" dirty="0">
                <a:solidFill>
                  <a:srgbClr val="7364E3"/>
                </a:solidFill>
              </a:rPr>
              <a:t>План/факт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— по выручке, конверсии, CSI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4864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830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⭐  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Рейтинги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— филиалов и менеджеров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54864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3774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📈  </a:t>
            </a:r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Графики динамики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— день, неделя, месяц, год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54864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9718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🔌  </a:t>
            </a:r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Подключение CRM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— через адаптеры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486400" cy="594360"/>
          </a:xfrm>
          <a:prstGeom prst="roundRect">
            <a:avLst>
              <a:gd name="adj" fmla="val 18462"/>
            </a:avLst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576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Время принятия решения: 2 дня → 30 сек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Время принятия решения: 2 дня → 30 сек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0" y="640080"/>
            <a:ext cx="3200400" cy="57607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0" dist="63500" dir="16200000">
              <a:srgbClr val="7364E3">
                <a:alpha val="12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0064" y="749808"/>
            <a:ext cx="3090672" cy="5577840"/>
          </a:xfrm>
          <a:prstGeom prst="ellipse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Задачи и уведомления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3200400" cy="57607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0" dist="63500" dir="16200000">
              <a:srgbClr val="7364E3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886968"/>
            <a:ext cx="3090672" cy="557784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0" y="7772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 не теряются — push прямо в Telegram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0" y="1188720"/>
            <a:ext cx="68580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709160" y="123444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✈️  </a:t>
            </a:r>
            <a:pPr indent="0" marL="0">
              <a:buNone/>
            </a:pPr>
            <a:r>
              <a:rPr lang="en-US" sz="1300" b="1" dirty="0">
                <a:solidFill>
                  <a:srgbClr val="2AABEE"/>
                </a:solidFill>
              </a:rPr>
              <a:t>Push через Telegram Bot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— агрегация без спама (1.2 сек)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0" y="1783080"/>
            <a:ext cx="68580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09160" y="182880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📶  </a:t>
            </a:r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Offline-режим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— задача сохранится при плохой связи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0" y="2377440"/>
            <a:ext cx="68580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09160" y="242316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🔗  </a:t>
            </a:r>
            <a:pPr indent="0" marL="0">
              <a:buNone/>
            </a:pPr>
            <a:r>
              <a:rPr lang="en-US" sz="1300" b="1" dirty="0">
                <a:solidFill>
                  <a:srgbClr val="7364E3"/>
                </a:solidFill>
              </a:rPr>
              <a:t>Deep linking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— из уведомления прямо к задаче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0" y="2971800"/>
            <a:ext cx="68580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09160" y="301752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🔍  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Фильтрация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— мне назначены / я автор / по статусу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0" y="3703320"/>
            <a:ext cx="6858000" cy="594360"/>
          </a:xfrm>
          <a:prstGeom prst="roundRect">
            <a:avLst>
              <a:gd name="adj" fmla="val 18462"/>
            </a:avLst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0" y="3749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572000" y="41148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0" y="37033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Время реакции: 4 часа → 15 минут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📅 Графики смен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Составление графиков за минуты, не за часы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54864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1887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✨  </a:t>
            </a:r>
            <a:pPr indent="0" marL="0">
              <a:buNone/>
            </a:pPr>
            <a:r>
              <a:rPr lang="en-US" sz="1300" b="1" dirty="0">
                <a:solidFill>
                  <a:srgbClr val="7364E3"/>
                </a:solidFill>
              </a:rPr>
              <a:t>Авто-заполнение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— по шаблонам 2/2, 5/2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4864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830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📋  </a:t>
            </a:r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Копирование недели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— один клик на повтор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54864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3774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👥  </a:t>
            </a:r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Контроль покрытия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— по должностям и дням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54864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9718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🧩  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Шаблоны смен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— настройка под каждый филиал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486400" cy="594360"/>
          </a:xfrm>
          <a:prstGeom prst="roundRect">
            <a:avLst>
              <a:gd name="adj" fmla="val 18462"/>
            </a:avLst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576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Экономия: 3–5 часов в неделю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0" y="640080"/>
            <a:ext cx="3200400" cy="57607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0" dist="63500" dir="16200000">
              <a:srgbClr val="7364E3">
                <a:alpha val="12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0064" y="749808"/>
            <a:ext cx="3090672" cy="5577840"/>
          </a:xfrm>
          <a:prstGeom prst="ellipse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💰 Калькулятор мотивации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3200400" cy="57607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0" dist="63500" dir="16200000">
              <a:srgbClr val="7364E3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886968"/>
            <a:ext cx="3090672" cy="557784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0" y="7772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Прозрачный расчёт ЗП — и для бухгалтерии, и для сотрудников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0" y="1188720"/>
            <a:ext cx="68580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709160" y="123444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⚙️  </a:t>
            </a:r>
            <a:pPr indent="0" marL="0">
              <a:buNone/>
            </a:pPr>
            <a:r>
              <a:rPr lang="en-US" sz="1300" b="1" dirty="0">
                <a:solidFill>
                  <a:srgbClr val="7364E3"/>
                </a:solidFill>
              </a:rPr>
              <a:t>KPI-матрица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— оклад + % + бонусы по формулам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0" y="1783080"/>
            <a:ext cx="68580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09160" y="182880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👁️  </a:t>
            </a:r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Прозрачность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— сотрудник видит прогноз ЗП онлайн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0" y="2377440"/>
            <a:ext cx="68580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09160" y="242316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📄  </a:t>
            </a:r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CSV-экспорт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— выгрузка для 1С и бухгалтерии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0" y="2971800"/>
            <a:ext cx="68580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09160" y="301752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🕐  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История сессий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— аудит всех расчётов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0" y="3703320"/>
            <a:ext cx="6858000" cy="594360"/>
          </a:xfrm>
          <a:prstGeom prst="roundRect">
            <a:avLst>
              <a:gd name="adj" fmla="val 18462"/>
            </a:avLst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0" y="3749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572000" y="41148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0" y="37033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Расчёт ЗП: 2 дня → 2 часа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📚 База знаний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Знания компании — в кармане каждого сотрудника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54864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1887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🔍  </a:t>
            </a:r>
            <a:pPr indent="0" marL="0">
              <a:buNone/>
            </a:pPr>
            <a:r>
              <a:rPr lang="en-US" sz="1300" b="1" dirty="0">
                <a:solidFill>
                  <a:srgbClr val="7364E3"/>
                </a:solidFill>
              </a:rPr>
              <a:t>Полнотекстовый поиск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— по всем статьям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4864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830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🔖  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Закладки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— быстрый доступ к нужным инструкциям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54864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3774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✈️  </a:t>
            </a:r>
            <a:pPr indent="0" marL="0">
              <a:buNone/>
            </a:pPr>
            <a:r>
              <a:rPr lang="en-US" sz="1300" b="1" dirty="0">
                <a:solidFill>
                  <a:srgbClr val="2AABEE"/>
                </a:solidFill>
              </a:rPr>
              <a:t>Deep linking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— ссылка в чате → открытие статьи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54864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9718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🔌  </a:t>
            </a:r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Outline интеграция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— импорт и синхронизация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486400" cy="594360"/>
          </a:xfrm>
          <a:prstGeom prst="roundRect">
            <a:avLst>
              <a:gd name="adj" fmla="val 18462"/>
            </a:avLst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576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Адаптация новичка: −40% времени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0" y="640080"/>
            <a:ext cx="3200400" cy="57607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0" dist="63500" dir="16200000">
              <a:srgbClr val="7364E3">
                <a:alpha val="12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0064" y="749808"/>
            <a:ext cx="3090672" cy="5577840"/>
          </a:xfrm>
          <a:prstGeom prst="ellipse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 Профиль и оргструктура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3200400" cy="57607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0" dist="63500" dir="16200000">
              <a:srgbClr val="7364E3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886968"/>
            <a:ext cx="3090672" cy="557784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0" y="7772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Каждый знает свою роль, команду и руководителя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0" y="1188720"/>
            <a:ext cx="68580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709160" y="123444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🪪  </a:t>
            </a:r>
            <a:pPr indent="0" marL="0">
              <a:buNone/>
            </a:pPr>
            <a:r>
              <a:rPr lang="en-US" sz="1300" b="1" dirty="0">
                <a:solidFill>
                  <a:srgbClr val="7364E3"/>
                </a:solidFill>
              </a:rPr>
              <a:t>Профиль сотрудника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— должность, филиал, контакты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0" y="1783080"/>
            <a:ext cx="68580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09160" y="182880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🏢  </a:t>
            </a:r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Оргструктура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— руководитель и команда видны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0" y="2377440"/>
            <a:ext cx="68580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09160" y="242316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🛡️  </a:t>
            </a:r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RBAC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— роли определяют доступ к модулям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0" y="2971800"/>
            <a:ext cx="68580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09160" y="301752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📷  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Фото профиля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— загрузка с авто-обработкой EXIF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Админ-панель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Настройка без программистов — всё через UI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1323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6949440" cy="402336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46720" y="1097280"/>
            <a:ext cx="35661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183880" y="11704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💚  Мониторинг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83880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Статус всех интеграций в реальном времени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046720" y="2103120"/>
            <a:ext cx="35661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183880" y="21762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📐  Метрики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83880" y="2514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Мастер создания метрик с формулами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46720" y="3108960"/>
            <a:ext cx="35661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183880" y="31821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👥  Оргструктура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83880" y="3520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Филиалы, должности, привязки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46720" y="4114800"/>
            <a:ext cx="35661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183880" y="41879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📚  База знаний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183880" y="4526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Управление провайдерами и импорт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🖥️ Десктоп-версия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Responsive-дизайн — одинаково удобно на телефоне и компьютере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8813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10698480" cy="374904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5212080"/>
            <a:ext cx="34747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5212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📱  </a:t>
            </a:r>
            <a:pPr algn="ctr" indent="0" marL="0">
              <a:buNone/>
            </a:pPr>
            <a:r>
              <a:rPr lang="en-US" sz="1200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Mobile-first Telegram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9120" y="5212080"/>
            <a:ext cx="34747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480560" y="5212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💻  </a:t>
            </a:r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Полная десктоп-версия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38160" y="5212080"/>
            <a:ext cx="34747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0" y="5212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🔄  </a:t>
            </a:r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Синхронизация в реальном времени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Staff Focus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Конкурентные преимущества и технологический стек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Конкурентная матрица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14400"/>
          <a:ext cx="10881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103120"/>
                <a:gridCol w="2103120"/>
                <a:gridCol w="210312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364E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Критерий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364E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Staff Focus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364E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Bitrix24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364E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Planday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364E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Кастомная разработка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Telegram-native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Да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❌ Нет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❌ Нет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⚠️ Возможно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Offline-mode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Да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❌ Нет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❌ Нет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⚠️ Дорого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KPI Dashboard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Розница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⚠️ Общий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❌ Нет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⚠️ 6+ мес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Калькулятор ЗП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Да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❌ Нет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❌ Нет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⚠️ Кастом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 to Value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1–3 дня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2–4 недели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1–2 недели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3–6 месяцев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Стоимость (10 филиалов)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15–50K/мес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50–100K/мес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30–60K/мес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2–5M единоразово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🧱 Архитектура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BFF-паттерн — ваши данные остаются в ваших системах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5486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18872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🔌  Plug-in адаптеры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amoCRM, Yandex Tracker, Outline Wiki, custom HTTP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01368"/>
            <a:ext cx="5486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84708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🗄️  PostgreSQL Star Schema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07568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Формульный движок с DAG для вычисляемых метрик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459736"/>
            <a:ext cx="5486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505456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 Real-time SSE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734056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Push-уведомления, 25s heartbeat, auto-reconnect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118104"/>
            <a:ext cx="5486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163824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96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🐳  Docker deployment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392424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On-premise или облако. Деплой за 1 день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777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Безопасность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1143000"/>
            <a:ext cx="50292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1188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JWT httpOnly cookies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1691640"/>
            <a:ext cx="50292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2084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⚡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Rate limiting (1000 req/15min)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2240280"/>
            <a:ext cx="50292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20840" y="2286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🛡️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RBAC с иерархическими ролями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2788920"/>
            <a:ext cx="50292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20840" y="2834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📝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Логирование: OpenSearch + VictoriaLogs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3474720"/>
            <a:ext cx="22860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0" y="3566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80+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583680" y="3977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326880" y="3474720"/>
            <a:ext cx="22860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326880" y="3566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90+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9326880" y="3977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компонентов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Путь внедрения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подключения до полноценной работы — 1–2 недели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280160"/>
            <a:ext cx="548640" cy="548640"/>
          </a:xfrm>
          <a:prstGeom prst="ellipse">
            <a:avLst/>
          </a:prstGeom>
          <a:solidFill>
            <a:srgbClr val="7364E3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День 1–2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Подключение ERP/CRM,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настройка Telegram Bot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71800" y="118872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0" y="1280160"/>
            <a:ext cx="548640" cy="548640"/>
          </a:xfrm>
          <a:prstGeom prst="ellipse">
            <a:avLst/>
          </a:prstGeom>
          <a:solidFill>
            <a:srgbClr val="7364E3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6324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День 3–4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63240" y="2194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Оргструктура,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роли, метрики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0" y="118872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1280160"/>
            <a:ext cx="548640" cy="548640"/>
          </a:xfrm>
          <a:prstGeom prst="ellipse">
            <a:avLst/>
          </a:prstGeom>
          <a:solidFill>
            <a:srgbClr val="7364E3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9496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День 5–7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2194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Пилот на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1–2 филиалах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35240" y="118872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21040" y="1280160"/>
            <a:ext cx="548640" cy="548640"/>
          </a:xfrm>
          <a:prstGeom prst="ellipse">
            <a:avLst/>
          </a:prstGeom>
          <a:solidFill>
            <a:srgbClr val="7364E3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2668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Неделя 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26680" y="2194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Раскатка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всю сеть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966960" y="118872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652760" y="128016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1065276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Неделя 3+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0" y="2194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Тюнинг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обучение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474720"/>
            <a:ext cx="3383280" cy="731520"/>
          </a:xfrm>
          <a:prstGeom prst="roundRect">
            <a:avLst>
              <a:gd name="adj" fmla="val 15000"/>
            </a:avLst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520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40080" y="38862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3474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1–3 дня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40080" y="3886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Value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89120" y="3474720"/>
            <a:ext cx="3383280" cy="731520"/>
          </a:xfrm>
          <a:prstGeom prst="roundRect">
            <a:avLst>
              <a:gd name="adj" fmla="val 15000"/>
            </a:avLst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0" y="3520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389120" y="38862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389120" y="3474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₽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389120" y="3886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 лицензии сотрудникам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38160" y="3474720"/>
            <a:ext cx="3383280" cy="731520"/>
          </a:xfrm>
          <a:prstGeom prst="roundRect">
            <a:avLst>
              <a:gd name="adj" fmla="val 15000"/>
            </a:avLst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38160" y="3520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8138160" y="38862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38160" y="3474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5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8138160" y="3886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установок приложений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Бизнес-результат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ROI, тарифы и следующие шаги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ROI: окупаемость за 1–2 месяца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Расчёт для сети из 10 филиалов, ~60 сотрудников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292608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364E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Модуль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364E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Было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364E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Стало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364E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Экономия/год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Дашборд KPI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Данные через неделю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 реальном времени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+10–15% выручки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Графики смен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3–5 ч/нед в Excel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 мин/нед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200+ ч/год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Задачи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30% теряются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100% доставлены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↑ исполнение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Калькулятор ЗП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дня/месяц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часа/месяц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180+ ч/год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База знаний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Знания в головах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Единая wiki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−40% адаптация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566160"/>
            <a:ext cx="3383280" cy="731520"/>
          </a:xfrm>
          <a:prstGeom prst="roundRect">
            <a:avLst>
              <a:gd name="adj" fmla="val 15000"/>
            </a:avLst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36118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3566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3–10M ₽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40080" y="3977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экономия в год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89120" y="3566160"/>
            <a:ext cx="3383280" cy="731520"/>
          </a:xfrm>
          <a:prstGeom prst="roundRect">
            <a:avLst>
              <a:gd name="adj" fmla="val 15000"/>
            </a:avLst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0" y="36118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389120" y="39776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389120" y="3566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30x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4389120" y="3977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средний ROI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38160" y="3566160"/>
            <a:ext cx="3383280" cy="731520"/>
          </a:xfrm>
          <a:prstGeom prst="roundRect">
            <a:avLst>
              <a:gd name="adj" fmla="val 15000"/>
            </a:avLst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38160" y="36118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138160" y="39776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138160" y="3566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5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1–2 мес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138160" y="3977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окупаемость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Тарифы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3566160" cy="50292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51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Бесплатно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 10 сотрудников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Задачи с push-уведомлениями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База знаний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Профили сотрудников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Telegram Bot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914400"/>
            <a:ext cx="3566160" cy="50292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7364E3"/>
            </a:solidFill>
            <a:prstDash val="solid"/>
          </a:ln>
          <a:effectLst>
            <a:outerShdw sx="100000" sy="100000" kx="0" ky="0" algn="bl" rotWithShape="0" blurRad="190500" dist="38100" dir="16200000">
              <a:srgbClr val="7364E3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1051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15–30K ₽/мес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48056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 50 сотрудников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Всё из Start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6060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Дашборд руководителя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926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Графики смен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2461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Отзывы и заказы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566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Desktop-версия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21040" y="914400"/>
            <a:ext cx="3566160" cy="50292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21040" y="1051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2104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50K+ ₽/мес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32104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ограничений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0" y="2286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Всё из Pro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0" y="26060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Калькулятор ЗП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0" y="2926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Кастомные адаптеры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0" y="32461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SLA и приоритетная поддержка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0" y="3566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On-premise деплой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Кейс: оптическая розничная сеть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Профиль клиента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филиалов · 120 сотрудников · оптический ритейл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943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63040"/>
            <a:ext cx="54864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 Staff Focus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7830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KPI раз в неделю из Excel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03911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Просадки обнаруживались с задержкой 1–2 недели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29514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Графики смен — 4 ч/нед ручной работы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55117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Новые сотрудники выходили на стабильность 2–3 мес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5943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06324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 Staff Focus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3832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8 KPI в реальном времени, рейтинги daily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363931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Проблемный филиал виден за 30 секунд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389534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Авто-графики экономят 200+ ч/год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415137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Адаптация новичка ускорена на 40%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914400"/>
            <a:ext cx="4663440" cy="13716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9601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0" y="13258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9601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+12%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6858000" y="1691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рост выручки за 3 месяца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0" y="2560320"/>
            <a:ext cx="21945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58000" y="2651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200x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85800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326880" y="2560320"/>
            <a:ext cx="21945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326880" y="2651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72M ₽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932688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доп. выручка/год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72400" y="3566160"/>
            <a:ext cx="2011680" cy="32004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0" dist="63500" dir="16200000">
              <a:srgbClr val="7364E3">
                <a:alpha val="12000"/>
              </a:srgbClr>
            </a:outerShdw>
          </a:effectLst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4" y="3675888"/>
            <a:ext cx="1901952" cy="3017520"/>
          </a:xfrm>
          <a:prstGeom prst="ellipse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Начните за 3 дня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286000" y="201168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Демо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86000" y="29260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минут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ваших данных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212080" y="201168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364E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21208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21208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Пилот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12080" y="29260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недели бесплатно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1–2 филиала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8160" y="201168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8E4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3816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Масштабирование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38160" y="29260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 поддержкой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каждом этапе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0" y="429768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36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staff-focus.app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0" y="475488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✈️ @StaffFocusBot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Staff Focus — Операционная платформа для розничных сетей</dc:title>
  <dc:subject>PptxGenJS Presentation</dc:subject>
  <dc:creator>Staff Focus</dc:creator>
  <cp:lastModifiedBy>Staff Focus</cp:lastModifiedBy>
  <cp:revision>1</cp:revision>
  <dcterms:created xsi:type="dcterms:W3CDTF">2026-03-16T10:31:39Z</dcterms:created>
  <dcterms:modified xsi:type="dcterms:W3CDTF">2026-03-16T10:31:39Z</dcterms:modified>
</cp:coreProperties>
</file>